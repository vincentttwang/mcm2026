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4"/>
  </p:notesMasterIdLst>
  <p:sldIdLst>
    <p:sldId id="640" r:id="rId3"/>
    <p:sldId id="660" r:id="rId4"/>
    <p:sldId id="671" r:id="rId5"/>
    <p:sldId id="675" r:id="rId6"/>
    <p:sldId id="676" r:id="rId7"/>
    <p:sldId id="678" r:id="rId8"/>
    <p:sldId id="677" r:id="rId9"/>
    <p:sldId id="679" r:id="rId10"/>
    <p:sldId id="681" r:id="rId11"/>
    <p:sldId id="680" r:id="rId12"/>
    <p:sldId id="286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8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HUAWEI" initials="H" lastIdx="1" clrIdx="1"/>
  <p:cmAuthor id="3" name="科研交流" initials="科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FE0"/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0" autoAdjust="0"/>
    <p:restoredTop sz="83456" autoAdjust="0"/>
  </p:normalViewPr>
  <p:slideViewPr>
    <p:cSldViewPr snapToGrid="0" showGuides="1">
      <p:cViewPr>
        <p:scale>
          <a:sx n="100" d="100"/>
          <a:sy n="100" d="100"/>
        </p:scale>
        <p:origin x="148" y="48"/>
      </p:cViewPr>
      <p:guideLst>
        <p:guide orient="horz" pos="2458"/>
        <p:guide pos="3754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656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banana</a:t>
            </a:r>
            <a:r>
              <a:rPr lang="zh-CN" altLang="en-US" dirty="0"/>
              <a:t>中输入：帮我生成一张照片，图一是帝皇侠，图二是小黄人，小黄人对着镜子站在高端简约浴室镜子前，背对着镜头，看着镜子里，镜子里映射出图一帝皇侠的形象。该人物保持原有的形象特征，充满威慑力，比例为</a:t>
            </a:r>
            <a:r>
              <a:rPr lang="en-US" altLang="zh-CN" dirty="0"/>
              <a:t>3:4</a:t>
            </a:r>
            <a:r>
              <a:rPr lang="zh-CN" altLang="en-US" dirty="0"/>
              <a:t>，加一个稍微亮的滤镜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create a 1/7 scale commercialized figurine of the Detective Conan in the picture, in a realistic style, in a real environment. The figurine is placed on a computer desk. The figurine has a round transparent acrylic base, with no text on the base. The content on the computer screen is the </a:t>
            </a:r>
            <a:r>
              <a:rPr lang="en-US" altLang="zh-CN" dirty="0" err="1"/>
              <a:t>Zbrush</a:t>
            </a:r>
            <a:r>
              <a:rPr lang="en-US" altLang="zh-CN" dirty="0"/>
              <a:t> modeling process of this figurine. Next to the computer screen is a BANDAI-style toy packaging box printed with the original artwork., The packaging features two-dimensional flat </a:t>
            </a:r>
            <a:r>
              <a:rPr lang="en-US" altLang="zh-CN" dirty="0" err="1"/>
              <a:t>illustrations.Maintain</a:t>
            </a:r>
            <a:r>
              <a:rPr lang="en-US" altLang="zh-CN" dirty="0"/>
              <a:t> consistency with the image.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53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E585-05D0-B4B6-B808-C7F3B263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4552FB-7DF8-4106-A928-F3D953ABB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12C6B6-44FC-A65D-2230-C0682916F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这是我要参加的一个比赛，我先把题目和相关的文献发给你，你可以通过阅读文献从而对这个领域进行学习，暂时不需要输入其他内容，你可以阅读完赛题和文献后，告诉我求解这个赛题所需要的数据集？？？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21796-2CD5-1351-0CF6-5922EF7E1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873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FD64-5414-2FB6-71E4-F369C956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19F760-0453-74D5-E761-ADB955CEB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95D928-CDE9-371C-23D5-98EA5F30D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好的，现在只需要你来求解问题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请建立一个合适的数学模型来研究不同膜厚的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PDMS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薄膜的发射率与波长的函数关系。 我已经拿到了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PDMS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薄膜在不同波长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折射率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消光系数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的具体数值，数据集保存在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question1.xlsx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，该数据集的路径为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"D:\Gemini3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在数模中使用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\question1.xlsx"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，该数据集的前几行是：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lambda n k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0.4 1.42109 0.000000929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0.41 1.41984 0.000000908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0.42 1.41859 0.000000901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0.43 1.4178 0.000000907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0.44 1.41642 0.000000905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0.45 1.41581 0.000000899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0.46 1.41499 0.000000902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0.47 1.41395 0.000000902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0.48 1.41342 0.000000908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0.49 1.41243 0.000000917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最后几行是：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18.257 1.49605 0.0546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18.518 1.49709 0.0565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18.786 1.49362 0.0549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19.062 1.48785 0.0522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19.347 1.48798 0.0496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19.64 1.48985 0.0496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19.942 1.49006 0.055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。现在我给了你数据集，请你借助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代码完成第一问的求解，处理过程中的基础原理可以参考相关的文献。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198E81-F6AA-8FF1-1C86-CD98E9D63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969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EA09-55F6-5493-ED19-7F1DDF96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FE291E-2E36-6F80-2C0D-AB39DA929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BB5D9-8940-0F7C-8CF8-FA7296DC7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这是借助你的代码绘制出的图像，你认为图像结果合理么？如果合理，请用一段</a:t>
            </a:r>
            <a:r>
              <a:rPr lang="en-US" altLang="zh-CN" dirty="0"/>
              <a:t>250</a:t>
            </a:r>
            <a:r>
              <a:rPr lang="zh-CN" altLang="en-US" dirty="0"/>
              <a:t>字的自然段进行解释（可以结合文献）。如果不合理，请指出不合理之处，并修改代码。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B3A6F5-3022-C429-71FD-EB83E10E7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7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0DE7-C348-AC03-AACB-3F09601C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B8E5B6-E228-1DD6-608E-D9314EFF3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887108-5742-06EF-6D91-280FC28F8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好的，现在需要你来求解问题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请建立合适的评估模型来评估不同厚度的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PDMS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薄膜的辐射冷却性能。根 据您的发现，提供一些与辐射冷却技术的进步和应用相关的建议。  我的想法是：这个性能有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个：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净制冷功率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最大温降能力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，因此呢我的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2 Model Establishment and Solution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下的二级标题分别是：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6.1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不同厚度下净制冷功率的评估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6.2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不同厚度下最大温降能力的评估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 据我所了解，这一问需要用到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 1.5 Global Spectrum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数据集，但是记得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Matlab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软件中已经纳入了类似的数据集，如果没有的话，你可以用类似的数据集。  现在，请你帮我完成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6.1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不同厚度下净制冷功率的评估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6.2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不同厚度下最大温降能力的评估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的建模与求解，要求写出建模的数学过程和求解结果，结果也要以科研图像的形式显示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图像中不能仅仅使用单一的色调，可以添加一些辅助符号等等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两张图分开画不要画在同一个幕布里，不同的厚度我要求设定为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10, 30, 50, 75, 100, 150, 200, 300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这是借助你的代码绘制出的图像，你认为图像结果合理么？如果合理，请用二段共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字的自然段进行解释（可以结合文献）。如果不合理，请指出不合理之处，并修改代码。</a:t>
            </a: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0FCCD-852D-EFE7-EAA9-6425234F1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976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E7D1-E19C-B294-C2E0-133C0DF2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296846-CC53-E05A-F2B1-1EA1FD752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A3E3CE-D268-065D-8C59-43F2863D9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好的，我开始处理问题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3.</a:t>
            </a:r>
            <a:r>
              <a:rPr lang="zh-CN" altLang="en-US" dirty="0"/>
              <a:t>请选择合适的材料与</a:t>
            </a:r>
            <a:r>
              <a:rPr lang="en-US" altLang="zh-CN" dirty="0"/>
              <a:t>PDMS</a:t>
            </a:r>
            <a:r>
              <a:rPr lang="zh-CN" altLang="en-US" dirty="0"/>
              <a:t>结合形成多层膜结构。结合优化设计算法，对 多层结构中每层的材料选择和层厚度进行优化。   因为涉及到多种材料，所以我需要给你其他材料的数据集：①银材料的数据集，绝对路径为“</a:t>
            </a:r>
            <a:r>
              <a:rPr lang="en-US" altLang="zh-CN" dirty="0"/>
              <a:t>D:\Gemini3</a:t>
            </a:r>
            <a:r>
              <a:rPr lang="zh-CN" altLang="en-US" dirty="0"/>
              <a:t>在数模中使用</a:t>
            </a:r>
            <a:r>
              <a:rPr lang="en-US" altLang="zh-CN" dirty="0"/>
              <a:t>\question3_Ag.xlsx”</a:t>
            </a:r>
            <a:r>
              <a:rPr lang="zh-CN" altLang="en-US" dirty="0"/>
              <a:t>，该数据集的前几行是：</a:t>
            </a:r>
            <a:r>
              <a:rPr lang="en-US" altLang="zh-CN" dirty="0"/>
              <a:t>lambda	n	k</a:t>
            </a:r>
          </a:p>
          <a:p>
            <a:r>
              <a:rPr lang="en-US" altLang="zh-CN" dirty="0"/>
              <a:t>0.19077	1.017	1.1</a:t>
            </a:r>
          </a:p>
          <a:p>
            <a:r>
              <a:rPr lang="en-US" altLang="zh-CN" dirty="0"/>
              <a:t>0.19136	1.02	1.104</a:t>
            </a:r>
          </a:p>
          <a:p>
            <a:r>
              <a:rPr lang="en-US" altLang="zh-CN" dirty="0"/>
              <a:t>0.19195	1.023	1.108</a:t>
            </a:r>
          </a:p>
          <a:p>
            <a:r>
              <a:rPr lang="en-US" altLang="zh-CN" dirty="0"/>
              <a:t>0.19255	1.026	1.111</a:t>
            </a:r>
          </a:p>
          <a:p>
            <a:r>
              <a:rPr lang="en-US" altLang="zh-CN" dirty="0"/>
              <a:t>0.19315	1.029	1.115</a:t>
            </a:r>
          </a:p>
          <a:p>
            <a:r>
              <a:rPr lang="zh-CN" altLang="en-US" dirty="0"/>
              <a:t>最后几行是：</a:t>
            </a:r>
            <a:r>
              <a:rPr lang="en-US" altLang="zh-CN" dirty="0"/>
              <a:t>7.1239	6.236	48.347</a:t>
            </a:r>
          </a:p>
          <a:p>
            <a:r>
              <a:rPr lang="en-US" altLang="zh-CN" dirty="0"/>
              <a:t>8.0033	7.787	53.987</a:t>
            </a:r>
          </a:p>
          <a:p>
            <a:r>
              <a:rPr lang="en-US" altLang="zh-CN" dirty="0"/>
              <a:t>9.1305	9.984	61.058</a:t>
            </a:r>
          </a:p>
          <a:p>
            <a:r>
              <a:rPr lang="en-US" altLang="zh-CN" dirty="0"/>
              <a:t>10.627	13.228	70.151</a:t>
            </a:r>
          </a:p>
          <a:p>
            <a:r>
              <a:rPr lang="en-US" altLang="zh-CN" dirty="0"/>
              <a:t>12.711	18.272	82.212</a:t>
            </a:r>
          </a:p>
          <a:p>
            <a:r>
              <a:rPr lang="en-US" altLang="zh-CN" dirty="0"/>
              <a:t>15.811	26.644	98.816</a:t>
            </a:r>
          </a:p>
          <a:p>
            <a:r>
              <a:rPr lang="en-US" altLang="zh-CN" dirty="0"/>
              <a:t>20.912	41.734	122.727</a:t>
            </a:r>
          </a:p>
          <a:p>
            <a:r>
              <a:rPr lang="en-US" altLang="zh-CN" dirty="0"/>
              <a:t>②SiO2</a:t>
            </a:r>
            <a:r>
              <a:rPr lang="zh-CN" altLang="en-US" dirty="0"/>
              <a:t>材料的数据集，绝对路径为</a:t>
            </a:r>
            <a:r>
              <a:rPr lang="en-US" altLang="zh-CN" dirty="0"/>
              <a:t>"D:\Gemini3</a:t>
            </a:r>
            <a:r>
              <a:rPr lang="zh-CN" altLang="en-US" dirty="0"/>
              <a:t>在数模中使用</a:t>
            </a:r>
            <a:r>
              <a:rPr lang="en-US" altLang="zh-CN" dirty="0"/>
              <a:t>\question3_SiO2.xlsx"</a:t>
            </a:r>
            <a:r>
              <a:rPr lang="zh-CN" altLang="en-US" dirty="0"/>
              <a:t>，该数据集的前几行是：</a:t>
            </a:r>
            <a:r>
              <a:rPr lang="en-US" altLang="zh-CN" dirty="0"/>
              <a:t>lambda	n	k</a:t>
            </a:r>
          </a:p>
          <a:p>
            <a:r>
              <a:rPr lang="en-US" altLang="zh-CN" dirty="0"/>
              <a:t>0.024797	0.938948985	0.066160891</a:t>
            </a:r>
          </a:p>
          <a:p>
            <a:r>
              <a:rPr lang="en-US" altLang="zh-CN" dirty="0"/>
              <a:t>0.0248542	0.938814853	0.066403752</a:t>
            </a:r>
          </a:p>
          <a:p>
            <a:r>
              <a:rPr lang="en-US" altLang="zh-CN" dirty="0"/>
              <a:t>0.0249115	0.938680244	0.066646636</a:t>
            </a:r>
          </a:p>
          <a:p>
            <a:r>
              <a:rPr lang="en-US" altLang="zh-CN" dirty="0"/>
              <a:t>0.0249689	0.938545141	0.066889531</a:t>
            </a:r>
          </a:p>
          <a:p>
            <a:r>
              <a:rPr lang="en-US" altLang="zh-CN" dirty="0"/>
              <a:t>0.0250265	0.93840953	0.067132428</a:t>
            </a:r>
          </a:p>
          <a:p>
            <a:r>
              <a:rPr lang="en-US" altLang="zh-CN" dirty="0"/>
              <a:t>0.0250842	0.938273395	0.067375316</a:t>
            </a:r>
          </a:p>
          <a:p>
            <a:r>
              <a:rPr lang="en-US" altLang="zh-CN" dirty="0"/>
              <a:t>0.025142	0.93813672	0.067618185</a:t>
            </a:r>
          </a:p>
          <a:p>
            <a:r>
              <a:rPr lang="zh-CN" altLang="en-US" dirty="0"/>
              <a:t>最后几行是：</a:t>
            </a:r>
            <a:r>
              <a:rPr lang="en-US" altLang="zh-CN" dirty="0"/>
              <a:t>20.5305	0.516244532	1.523741545</a:t>
            </a:r>
          </a:p>
          <a:p>
            <a:r>
              <a:rPr lang="en-US" altLang="zh-CN" dirty="0"/>
              <a:t>20.5778	0.537358772	1.594073105</a:t>
            </a:r>
          </a:p>
          <a:p>
            <a:r>
              <a:rPr lang="en-US" altLang="zh-CN" dirty="0"/>
              <a:t>20.6253	0.563310897	1.66546243</a:t>
            </a:r>
          </a:p>
          <a:p>
            <a:r>
              <a:rPr lang="en-US" altLang="zh-CN" dirty="0"/>
              <a:t>20.6728	0.594477328	1.737550712</a:t>
            </a:r>
          </a:p>
          <a:p>
            <a:r>
              <a:rPr lang="en-US" altLang="zh-CN" dirty="0"/>
              <a:t>20.7205	0.631210583	1.809895391</a:t>
            </a:r>
          </a:p>
          <a:p>
            <a:r>
              <a:rPr lang="en-US" altLang="zh-CN" dirty="0"/>
              <a:t>20.7682	0.673821391	1.881971121</a:t>
            </a:r>
          </a:p>
          <a:p>
            <a:r>
              <a:rPr lang="en-US" altLang="zh-CN" dirty="0"/>
              <a:t>20.8161	0.72256081	1.953174557</a:t>
            </a:r>
          </a:p>
          <a:p>
            <a:r>
              <a:rPr lang="en-US" altLang="zh-CN" dirty="0"/>
              <a:t>20.8641	0.777603156	2.022832898</a:t>
            </a:r>
          </a:p>
          <a:p>
            <a:r>
              <a:rPr lang="en-US" altLang="zh-CN" dirty="0"/>
              <a:t>20.9122	0.839030517	2.090216009</a:t>
            </a:r>
          </a:p>
          <a:p>
            <a:r>
              <a:rPr lang="en-US" altLang="zh-CN" dirty="0"/>
              <a:t>②TiO2</a:t>
            </a:r>
            <a:r>
              <a:rPr lang="zh-CN" altLang="en-US" dirty="0"/>
              <a:t>材料的数据集，绝对路径为</a:t>
            </a:r>
            <a:r>
              <a:rPr lang="en-US" altLang="zh-CN" dirty="0"/>
              <a:t>"D:\Gemini3</a:t>
            </a:r>
            <a:r>
              <a:rPr lang="zh-CN" altLang="en-US" dirty="0"/>
              <a:t>在数模中使用</a:t>
            </a:r>
            <a:r>
              <a:rPr lang="en-US" altLang="zh-CN" dirty="0"/>
              <a:t>\question3_TiO2.xlsx"</a:t>
            </a:r>
            <a:r>
              <a:rPr lang="zh-CN" altLang="en-US" dirty="0"/>
              <a:t>，该数据集的前几行是：</a:t>
            </a:r>
            <a:r>
              <a:rPr lang="en-US" altLang="zh-CN" dirty="0"/>
              <a:t>lambda	n	k</a:t>
            </a:r>
          </a:p>
          <a:p>
            <a:r>
              <a:rPr lang="en-US" altLang="zh-CN" dirty="0"/>
              <a:t>0.120181141	1.126620101	0.898838687</a:t>
            </a:r>
          </a:p>
          <a:p>
            <a:r>
              <a:rPr lang="en-US" altLang="zh-CN" dirty="0"/>
              <a:t>0.120874955	1.124382098	0.907024637</a:t>
            </a:r>
          </a:p>
          <a:p>
            <a:r>
              <a:rPr lang="en-US" altLang="zh-CN" dirty="0"/>
              <a:t>0.121572773	1.12223231	0.915711275</a:t>
            </a:r>
          </a:p>
          <a:p>
            <a:r>
              <a:rPr lang="en-US" altLang="zh-CN" dirty="0"/>
              <a:t>0.122274621	1.12020412	0.924913811</a:t>
            </a:r>
          </a:p>
          <a:p>
            <a:r>
              <a:rPr lang="en-US" altLang="zh-CN" dirty="0"/>
              <a:t>0.12298052	1.118333711	0.934645892</a:t>
            </a:r>
          </a:p>
          <a:p>
            <a:r>
              <a:rPr lang="en-US" altLang="zh-CN" dirty="0"/>
              <a:t>0.123690494	1.116660119	0.944919268</a:t>
            </a:r>
          </a:p>
          <a:p>
            <a:r>
              <a:rPr lang="en-US" altLang="zh-CN" dirty="0"/>
              <a:t>0.124404567	1.115225264	0.955743457</a:t>
            </a:r>
          </a:p>
          <a:p>
            <a:r>
              <a:rPr lang="en-US" altLang="zh-CN" dirty="0"/>
              <a:t>0.125122762	1.11407395	0.967125376</a:t>
            </a:r>
          </a:p>
          <a:p>
            <a:r>
              <a:rPr lang="en-US" altLang="zh-CN" dirty="0"/>
              <a:t>0.125845104	1.113253851	0.979068951</a:t>
            </a:r>
          </a:p>
          <a:p>
            <a:r>
              <a:rPr lang="zh-CN" altLang="en-US" dirty="0"/>
              <a:t>最后几行是：</a:t>
            </a:r>
            <a:r>
              <a:rPr lang="en-US" altLang="zh-CN" dirty="0"/>
              <a:t>21.12692661	2.624664049	3.261998977</a:t>
            </a:r>
          </a:p>
          <a:p>
            <a:r>
              <a:rPr lang="en-US" altLang="zh-CN" dirty="0"/>
              <a:t>21.24889369	2.654587532	3.265285523</a:t>
            </a:r>
          </a:p>
          <a:p>
            <a:r>
              <a:rPr lang="en-US" altLang="zh-CN" dirty="0"/>
              <a:t>21.37156489	2.684237019	3.268127312</a:t>
            </a:r>
          </a:p>
          <a:p>
            <a:r>
              <a:rPr lang="en-US" altLang="zh-CN" dirty="0"/>
              <a:t>21.49494428	2.713598663	3.270542935</a:t>
            </a:r>
          </a:p>
          <a:p>
            <a:r>
              <a:rPr lang="en-US" altLang="zh-CN" dirty="0"/>
              <a:t>21.61903595	2.74265984	3.272550716</a:t>
            </a:r>
          </a:p>
          <a:p>
            <a:r>
              <a:rPr lang="en-US" altLang="zh-CN" dirty="0"/>
              <a:t>21.743844	2.771408205	3.274169748</a:t>
            </a:r>
          </a:p>
          <a:p>
            <a:r>
              <a:rPr lang="en-US" altLang="zh-CN" dirty="0"/>
              <a:t>21.86937258	2.799832305	3.275419086</a:t>
            </a:r>
          </a:p>
          <a:p>
            <a:r>
              <a:rPr lang="en-US" altLang="zh-CN" dirty="0"/>
              <a:t>21.99562585	2.827921576	3.276317712</a:t>
            </a:r>
          </a:p>
          <a:p>
            <a:r>
              <a:rPr lang="zh-CN" altLang="en-US" dirty="0"/>
              <a:t>还是借助</a:t>
            </a:r>
            <a:r>
              <a:rPr lang="en-US" altLang="zh-CN" dirty="0" err="1"/>
              <a:t>matlab</a:t>
            </a:r>
            <a:r>
              <a:rPr lang="zh-CN" altLang="en-US" dirty="0"/>
              <a:t>软件进行求解，由于需要设计优化算法，我想你用到的优化算法是遗传算法，如果你认为遗传算法不合理，你可以使用合适的优化算法。由于需要设计优化算法，请你务必清晰地写出</a:t>
            </a:r>
            <a:r>
              <a:rPr lang="en-US" altLang="zh-CN" dirty="0"/>
              <a:t>:①</a:t>
            </a:r>
            <a:r>
              <a:rPr lang="zh-CN" altLang="en-US" dirty="0"/>
              <a:t>优化算法的三要素：决策变量，目标函数，约束条件。②：优化算法的原理 ③目标函数优化过程中的收敛图  ④最终的优化结果，可以以表格的形式呈现  ⑤最终的多层膜结构，最好用</a:t>
            </a:r>
            <a:r>
              <a:rPr lang="en-US" altLang="zh-CN" dirty="0" err="1"/>
              <a:t>matlab</a:t>
            </a:r>
            <a:r>
              <a:rPr lang="zh-CN" altLang="en-US" dirty="0"/>
              <a:t>画出来，由于层数可能较多，你可以把竖着画出来。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06AE7-FB5A-9741-A28B-E6A2866FA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84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12AA-3309-23A5-E670-FDC2F66B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AB41EF-D8EE-F590-8736-AD475CC1B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69AB05-CFAA-E9EB-BE4E-9B0A106F0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这是借助你的代码绘制出的图像，你认为图像结果合理么？如果合理，请用一段</a:t>
            </a:r>
            <a:r>
              <a:rPr lang="en-US" altLang="zh-CN" dirty="0"/>
              <a:t>250</a:t>
            </a:r>
            <a:r>
              <a:rPr lang="zh-CN" altLang="en-US" dirty="0"/>
              <a:t>字的自然段进行解释（可以结合文献）。如果不合理，请指出不合理之处，并修改代码。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4B768-681A-AC41-9E93-C18A5BE76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316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07E9-0BD4-C4B7-0C10-D52909DE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DFFEBE-A957-FF23-BE42-978D7B638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375433-C165-A32D-1ED3-75926072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好的，我开始处理问题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4.</a:t>
            </a:r>
            <a:r>
              <a:rPr lang="zh-CN" altLang="en-US" dirty="0"/>
              <a:t>请对辐射冷却材料和结构进行全面优化设计，以达到最佳的辐射冷却性能。设计完成后，对最终辐射冷却产品的可行性和成本进行评估。  这一问我没有收集到数据，因此你可以直接借助合理的数据进行求解，比如说材料的费用，你可以合理的设定。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D13490-9F1C-A1C9-9C8C-17F9E2581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59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4534F-543C-248A-1512-5837526A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49E7ED-A87C-A25C-CD69-82D6425DB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D3B9E3-ED0D-46E6-EA2E-79A60A3AA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我现在开始做灵敏度分析，我的想法是：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在问题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中</a:t>
            </a:r>
            <a:r>
              <a:rPr lang="zh-CN" altLang="en-US" dirty="0"/>
              <a:t>多层膜结构的优化设计中，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由于做工等造成的误差，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PDMS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辐射冷却膜的实际厚度经常偏离理论最佳值，也就是说可以为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PDMS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辐射冷却膜的实际厚度添加一个服从正态分布的随机误差，并借助蒙特卡洛经过多次模型，求解出不同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PDMS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辐射冷却膜的实际厚度下的</a:t>
            </a:r>
            <a:r>
              <a:rPr lang="zh-CN" altLang="en-US" dirty="0"/>
              <a:t>净制冷功率的变化情况。所以说，这张图像的</a:t>
            </a:r>
            <a:r>
              <a:rPr lang="en-US" altLang="zh-CN" dirty="0"/>
              <a:t>X</a:t>
            </a:r>
            <a:r>
              <a:rPr lang="zh-CN" altLang="en-US" dirty="0"/>
              <a:t>轴是添加的随机干扰的幅度，</a:t>
            </a:r>
            <a:r>
              <a:rPr lang="en-US" altLang="zh-CN" dirty="0"/>
              <a:t>Y</a:t>
            </a:r>
            <a:r>
              <a:rPr lang="zh-CN" altLang="en-US" dirty="0"/>
              <a:t>值为净制冷功率，将灵敏度分析结果绘制出来，并用阴影绘制出</a:t>
            </a:r>
            <a:r>
              <a:rPr lang="en-US" altLang="zh-CN" dirty="0"/>
              <a:t>95%</a:t>
            </a:r>
            <a:r>
              <a:rPr lang="zh-CN" altLang="en-US" dirty="0"/>
              <a:t>置信区间以量化不确定性。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我认为结果还是不理想，所以我们干脆不走正规的求解途径了，请你根据阅读的文献和你对赛题的理解，直接生成比较合理的灵敏度分析图像，仍然要求“</a:t>
            </a:r>
            <a:r>
              <a:rPr lang="en-US" altLang="zh-CN" dirty="0"/>
              <a:t>X</a:t>
            </a:r>
            <a:r>
              <a:rPr lang="zh-CN" altLang="en-US" dirty="0"/>
              <a:t>轴是添加的随机干扰的幅度，</a:t>
            </a:r>
            <a:r>
              <a:rPr lang="en-US" altLang="zh-CN" dirty="0"/>
              <a:t>Y</a:t>
            </a:r>
            <a:r>
              <a:rPr lang="zh-CN" altLang="en-US" dirty="0"/>
              <a:t>值为净制冷功率，将灵敏度分析结果绘制出来，并用阴影绘制出</a:t>
            </a:r>
            <a:r>
              <a:rPr lang="en-US" altLang="zh-CN" dirty="0"/>
              <a:t>95%</a:t>
            </a:r>
            <a:r>
              <a:rPr lang="zh-CN" altLang="en-US" dirty="0"/>
              <a:t>置信区间以量化不确定性。”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99CAD2-DD30-2424-C4C6-00E650160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91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NULL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2.xml"/><Relationship Id="rId4" Type="http://schemas.openxmlformats.org/officeDocument/2006/relationships/tags" Target="../tags/tag12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ADMIN/AppData/Local/Temp/fig2wpp/@png2x_bg-2558&amp;1200.png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 r:link="rId10"/>
          <a:stretch>
            <a:fillRect/>
          </a:stretch>
        </p:blipFill>
        <p:spPr>
          <a:xfrm>
            <a:off x="318" y="0"/>
            <a:ext cx="12191365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636" y="0"/>
            <a:ext cx="12190730" cy="25901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50000"/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Freeform 14"/>
          <p:cNvSpPr/>
          <p:nvPr userDrawn="1">
            <p:custDataLst>
              <p:tags r:id="rId3"/>
            </p:custDataLst>
          </p:nvPr>
        </p:nvSpPr>
        <p:spPr bwMode="auto">
          <a:xfrm>
            <a:off x="1067490" y="583261"/>
            <a:ext cx="10057020" cy="1423642"/>
          </a:xfrm>
          <a:custGeom>
            <a:avLst/>
            <a:gdLst>
              <a:gd name="T0" fmla="*/ 4307 w 26397"/>
              <a:gd name="T1" fmla="*/ 1872 h 3739"/>
              <a:gd name="T2" fmla="*/ 5825 w 26397"/>
              <a:gd name="T3" fmla="*/ 2693 h 3739"/>
              <a:gd name="T4" fmla="*/ 5186 w 26397"/>
              <a:gd name="T5" fmla="*/ 754 h 3739"/>
              <a:gd name="T6" fmla="*/ 23302 w 26397"/>
              <a:gd name="T7" fmla="*/ 818 h 3739"/>
              <a:gd name="T8" fmla="*/ 21490 w 26397"/>
              <a:gd name="T9" fmla="*/ 3675 h 3739"/>
              <a:gd name="T10" fmla="*/ 20478 w 26397"/>
              <a:gd name="T11" fmla="*/ 64 h 3739"/>
              <a:gd name="T12" fmla="*/ 19218 w 26397"/>
              <a:gd name="T13" fmla="*/ 2194 h 3739"/>
              <a:gd name="T14" fmla="*/ 20050 w 26397"/>
              <a:gd name="T15" fmla="*/ 64 h 3739"/>
              <a:gd name="T16" fmla="*/ 17870 w 26397"/>
              <a:gd name="T17" fmla="*/ 1545 h 3739"/>
              <a:gd name="T18" fmla="*/ 17037 w 26397"/>
              <a:gd name="T19" fmla="*/ 3675 h 3739"/>
              <a:gd name="T20" fmla="*/ 16510 w 26397"/>
              <a:gd name="T21" fmla="*/ 64 h 3739"/>
              <a:gd name="T22" fmla="*/ 14886 w 26397"/>
              <a:gd name="T23" fmla="*/ 1476 h 3739"/>
              <a:gd name="T24" fmla="*/ 14886 w 26397"/>
              <a:gd name="T25" fmla="*/ 2208 h 3739"/>
              <a:gd name="T26" fmla="*/ 16565 w 26397"/>
              <a:gd name="T27" fmla="*/ 3675 h 3739"/>
              <a:gd name="T28" fmla="*/ 10830 w 26397"/>
              <a:gd name="T29" fmla="*/ 64 h 3739"/>
              <a:gd name="T30" fmla="*/ 12647 w 26397"/>
              <a:gd name="T31" fmla="*/ 818 h 3739"/>
              <a:gd name="T32" fmla="*/ 11842 w 26397"/>
              <a:gd name="T33" fmla="*/ 818 h 3739"/>
              <a:gd name="T34" fmla="*/ 7389 w 26397"/>
              <a:gd name="T35" fmla="*/ 64 h 3739"/>
              <a:gd name="T36" fmla="*/ 9597 w 26397"/>
              <a:gd name="T37" fmla="*/ 2194 h 3739"/>
              <a:gd name="T38" fmla="*/ 10402 w 26397"/>
              <a:gd name="T39" fmla="*/ 3675 h 3739"/>
              <a:gd name="T40" fmla="*/ 8194 w 26397"/>
              <a:gd name="T41" fmla="*/ 1545 h 3739"/>
              <a:gd name="T42" fmla="*/ 7389 w 26397"/>
              <a:gd name="T43" fmla="*/ 64 h 3739"/>
              <a:gd name="T44" fmla="*/ 25707 w 26397"/>
              <a:gd name="T45" fmla="*/ 1177 h 3739"/>
              <a:gd name="T46" fmla="*/ 24619 w 26397"/>
              <a:gd name="T47" fmla="*/ 828 h 3739"/>
              <a:gd name="T48" fmla="*/ 24737 w 26397"/>
              <a:gd name="T49" fmla="*/ 1389 h 3739"/>
              <a:gd name="T50" fmla="*/ 26199 w 26397"/>
              <a:gd name="T51" fmla="*/ 2042 h 3739"/>
              <a:gd name="T52" fmla="*/ 25698 w 26397"/>
              <a:gd name="T53" fmla="*/ 3597 h 3739"/>
              <a:gd name="T54" fmla="*/ 23513 w 26397"/>
              <a:gd name="T55" fmla="*/ 2847 h 3739"/>
              <a:gd name="T56" fmla="*/ 24967 w 26397"/>
              <a:gd name="T57" fmla="*/ 3008 h 3739"/>
              <a:gd name="T58" fmla="*/ 25500 w 26397"/>
              <a:gd name="T59" fmla="*/ 2479 h 3739"/>
              <a:gd name="T60" fmla="*/ 24251 w 26397"/>
              <a:gd name="T61" fmla="*/ 1996 h 3739"/>
              <a:gd name="T62" fmla="*/ 23819 w 26397"/>
              <a:gd name="T63" fmla="*/ 531 h 3739"/>
              <a:gd name="T64" fmla="*/ 5186 w 26397"/>
              <a:gd name="T65" fmla="*/ 0 h 3739"/>
              <a:gd name="T66" fmla="*/ 6883 w 26397"/>
              <a:gd name="T67" fmla="*/ 1872 h 3739"/>
              <a:gd name="T68" fmla="*/ 5186 w 26397"/>
              <a:gd name="T69" fmla="*/ 3739 h 3739"/>
              <a:gd name="T70" fmla="*/ 3484 w 26397"/>
              <a:gd name="T71" fmla="*/ 1872 h 3739"/>
              <a:gd name="T72" fmla="*/ 5186 w 26397"/>
              <a:gd name="T73" fmla="*/ 0 h 3739"/>
              <a:gd name="T74" fmla="*/ 3119 w 26397"/>
              <a:gd name="T75" fmla="*/ 892 h 3739"/>
              <a:gd name="T76" fmla="*/ 1716 w 26397"/>
              <a:gd name="T77" fmla="*/ 754 h 3739"/>
              <a:gd name="T78" fmla="*/ 828 w 26397"/>
              <a:gd name="T79" fmla="*/ 1853 h 3739"/>
              <a:gd name="T80" fmla="*/ 1716 w 26397"/>
              <a:gd name="T81" fmla="*/ 2985 h 3739"/>
              <a:gd name="T82" fmla="*/ 3128 w 26397"/>
              <a:gd name="T83" fmla="*/ 2847 h 3739"/>
              <a:gd name="T84" fmla="*/ 828 w 26397"/>
              <a:gd name="T85" fmla="*/ 3505 h 3739"/>
              <a:gd name="T86" fmla="*/ 221 w 26397"/>
              <a:gd name="T87" fmla="*/ 881 h 3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397" h="3739">
                <a:moveTo>
                  <a:pt x="5186" y="754"/>
                </a:moveTo>
                <a:cubicBezTo>
                  <a:pt x="4913" y="754"/>
                  <a:pt x="4698" y="852"/>
                  <a:pt x="4542" y="1048"/>
                </a:cubicBezTo>
                <a:cubicBezTo>
                  <a:pt x="4386" y="1245"/>
                  <a:pt x="4307" y="1519"/>
                  <a:pt x="4307" y="1872"/>
                </a:cubicBezTo>
                <a:cubicBezTo>
                  <a:pt x="4307" y="2224"/>
                  <a:pt x="4386" y="2498"/>
                  <a:pt x="4542" y="2693"/>
                </a:cubicBezTo>
                <a:cubicBezTo>
                  <a:pt x="4698" y="2888"/>
                  <a:pt x="4913" y="2985"/>
                  <a:pt x="5186" y="2985"/>
                </a:cubicBezTo>
                <a:cubicBezTo>
                  <a:pt x="5456" y="2985"/>
                  <a:pt x="5669" y="2888"/>
                  <a:pt x="5825" y="2693"/>
                </a:cubicBezTo>
                <a:cubicBezTo>
                  <a:pt x="5982" y="2498"/>
                  <a:pt x="6060" y="2224"/>
                  <a:pt x="6060" y="1872"/>
                </a:cubicBezTo>
                <a:cubicBezTo>
                  <a:pt x="6060" y="1519"/>
                  <a:pt x="5983" y="1245"/>
                  <a:pt x="5828" y="1048"/>
                </a:cubicBezTo>
                <a:cubicBezTo>
                  <a:pt x="5673" y="852"/>
                  <a:pt x="5459" y="754"/>
                  <a:pt x="5186" y="754"/>
                </a:cubicBezTo>
                <a:close/>
                <a:moveTo>
                  <a:pt x="20478" y="64"/>
                </a:moveTo>
                <a:lnTo>
                  <a:pt x="23302" y="64"/>
                </a:lnTo>
                <a:lnTo>
                  <a:pt x="23302" y="818"/>
                </a:lnTo>
                <a:lnTo>
                  <a:pt x="22295" y="818"/>
                </a:lnTo>
                <a:lnTo>
                  <a:pt x="22295" y="3675"/>
                </a:lnTo>
                <a:lnTo>
                  <a:pt x="21490" y="3675"/>
                </a:lnTo>
                <a:lnTo>
                  <a:pt x="21490" y="818"/>
                </a:lnTo>
                <a:lnTo>
                  <a:pt x="20478" y="818"/>
                </a:lnTo>
                <a:lnTo>
                  <a:pt x="20478" y="64"/>
                </a:lnTo>
                <a:close/>
                <a:moveTo>
                  <a:pt x="17037" y="64"/>
                </a:moveTo>
                <a:lnTo>
                  <a:pt x="17778" y="64"/>
                </a:lnTo>
                <a:lnTo>
                  <a:pt x="19218" y="2194"/>
                </a:lnTo>
                <a:lnTo>
                  <a:pt x="19245" y="2194"/>
                </a:lnTo>
                <a:lnTo>
                  <a:pt x="19245" y="64"/>
                </a:lnTo>
                <a:lnTo>
                  <a:pt x="20050" y="64"/>
                </a:lnTo>
                <a:lnTo>
                  <a:pt x="20050" y="3675"/>
                </a:lnTo>
                <a:lnTo>
                  <a:pt x="19351" y="3675"/>
                </a:lnTo>
                <a:lnTo>
                  <a:pt x="17870" y="1545"/>
                </a:lnTo>
                <a:lnTo>
                  <a:pt x="17842" y="1545"/>
                </a:lnTo>
                <a:lnTo>
                  <a:pt x="17842" y="3675"/>
                </a:lnTo>
                <a:lnTo>
                  <a:pt x="17037" y="3675"/>
                </a:lnTo>
                <a:lnTo>
                  <a:pt x="17037" y="64"/>
                </a:lnTo>
                <a:close/>
                <a:moveTo>
                  <a:pt x="14081" y="64"/>
                </a:moveTo>
                <a:lnTo>
                  <a:pt x="16510" y="64"/>
                </a:lnTo>
                <a:lnTo>
                  <a:pt x="16510" y="795"/>
                </a:lnTo>
                <a:lnTo>
                  <a:pt x="14886" y="795"/>
                </a:lnTo>
                <a:lnTo>
                  <a:pt x="14886" y="1476"/>
                </a:lnTo>
                <a:lnTo>
                  <a:pt x="16423" y="1476"/>
                </a:lnTo>
                <a:lnTo>
                  <a:pt x="16423" y="2208"/>
                </a:lnTo>
                <a:lnTo>
                  <a:pt x="14886" y="2208"/>
                </a:lnTo>
                <a:lnTo>
                  <a:pt x="14886" y="2944"/>
                </a:lnTo>
                <a:lnTo>
                  <a:pt x="16565" y="2944"/>
                </a:lnTo>
                <a:lnTo>
                  <a:pt x="16565" y="3675"/>
                </a:lnTo>
                <a:lnTo>
                  <a:pt x="14081" y="3675"/>
                </a:lnTo>
                <a:lnTo>
                  <a:pt x="14081" y="64"/>
                </a:lnTo>
                <a:close/>
                <a:moveTo>
                  <a:pt x="10830" y="64"/>
                </a:moveTo>
                <a:lnTo>
                  <a:pt x="13654" y="64"/>
                </a:lnTo>
                <a:lnTo>
                  <a:pt x="13654" y="818"/>
                </a:lnTo>
                <a:lnTo>
                  <a:pt x="12647" y="818"/>
                </a:lnTo>
                <a:lnTo>
                  <a:pt x="12647" y="3675"/>
                </a:lnTo>
                <a:lnTo>
                  <a:pt x="11842" y="3675"/>
                </a:lnTo>
                <a:lnTo>
                  <a:pt x="11842" y="818"/>
                </a:lnTo>
                <a:lnTo>
                  <a:pt x="10830" y="818"/>
                </a:lnTo>
                <a:lnTo>
                  <a:pt x="10830" y="64"/>
                </a:lnTo>
                <a:close/>
                <a:moveTo>
                  <a:pt x="7389" y="64"/>
                </a:moveTo>
                <a:lnTo>
                  <a:pt x="8130" y="64"/>
                </a:lnTo>
                <a:lnTo>
                  <a:pt x="9570" y="2194"/>
                </a:lnTo>
                <a:lnTo>
                  <a:pt x="9597" y="2194"/>
                </a:lnTo>
                <a:lnTo>
                  <a:pt x="9597" y="64"/>
                </a:lnTo>
                <a:lnTo>
                  <a:pt x="10402" y="64"/>
                </a:lnTo>
                <a:lnTo>
                  <a:pt x="10402" y="3675"/>
                </a:lnTo>
                <a:lnTo>
                  <a:pt x="9703" y="3675"/>
                </a:lnTo>
                <a:lnTo>
                  <a:pt x="8222" y="1545"/>
                </a:lnTo>
                <a:lnTo>
                  <a:pt x="8194" y="1545"/>
                </a:lnTo>
                <a:lnTo>
                  <a:pt x="8194" y="3675"/>
                </a:lnTo>
                <a:lnTo>
                  <a:pt x="7389" y="3675"/>
                </a:lnTo>
                <a:lnTo>
                  <a:pt x="7389" y="64"/>
                </a:lnTo>
                <a:close/>
                <a:moveTo>
                  <a:pt x="25013" y="0"/>
                </a:moveTo>
                <a:cubicBezTo>
                  <a:pt x="25657" y="0"/>
                  <a:pt x="26118" y="283"/>
                  <a:pt x="26397" y="851"/>
                </a:cubicBezTo>
                <a:lnTo>
                  <a:pt x="25707" y="1177"/>
                </a:lnTo>
                <a:cubicBezTo>
                  <a:pt x="25628" y="1018"/>
                  <a:pt x="25530" y="903"/>
                  <a:pt x="25415" y="832"/>
                </a:cubicBezTo>
                <a:cubicBezTo>
                  <a:pt x="25300" y="762"/>
                  <a:pt x="25163" y="726"/>
                  <a:pt x="25003" y="726"/>
                </a:cubicBezTo>
                <a:cubicBezTo>
                  <a:pt x="24853" y="726"/>
                  <a:pt x="24725" y="760"/>
                  <a:pt x="24619" y="828"/>
                </a:cubicBezTo>
                <a:cubicBezTo>
                  <a:pt x="24514" y="895"/>
                  <a:pt x="24461" y="979"/>
                  <a:pt x="24461" y="1081"/>
                </a:cubicBezTo>
                <a:cubicBezTo>
                  <a:pt x="24461" y="1151"/>
                  <a:pt x="24482" y="1210"/>
                  <a:pt x="24525" y="1258"/>
                </a:cubicBezTo>
                <a:cubicBezTo>
                  <a:pt x="24568" y="1305"/>
                  <a:pt x="24639" y="1349"/>
                  <a:pt x="24737" y="1389"/>
                </a:cubicBezTo>
                <a:cubicBezTo>
                  <a:pt x="24835" y="1429"/>
                  <a:pt x="24977" y="1473"/>
                  <a:pt x="25164" y="1522"/>
                </a:cubicBezTo>
                <a:cubicBezTo>
                  <a:pt x="25407" y="1587"/>
                  <a:pt x="25609" y="1653"/>
                  <a:pt x="25772" y="1720"/>
                </a:cubicBezTo>
                <a:cubicBezTo>
                  <a:pt x="25934" y="1787"/>
                  <a:pt x="26077" y="1895"/>
                  <a:pt x="26199" y="2042"/>
                </a:cubicBezTo>
                <a:cubicBezTo>
                  <a:pt x="26322" y="2189"/>
                  <a:pt x="26383" y="2382"/>
                  <a:pt x="26383" y="2622"/>
                </a:cubicBezTo>
                <a:cubicBezTo>
                  <a:pt x="26383" y="2842"/>
                  <a:pt x="26323" y="3037"/>
                  <a:pt x="26202" y="3206"/>
                </a:cubicBezTo>
                <a:cubicBezTo>
                  <a:pt x="26081" y="3374"/>
                  <a:pt x="25913" y="3505"/>
                  <a:pt x="25698" y="3597"/>
                </a:cubicBezTo>
                <a:cubicBezTo>
                  <a:pt x="25483" y="3689"/>
                  <a:pt x="25238" y="3735"/>
                  <a:pt x="24962" y="3735"/>
                </a:cubicBezTo>
                <a:cubicBezTo>
                  <a:pt x="24625" y="3735"/>
                  <a:pt x="24330" y="3654"/>
                  <a:pt x="24079" y="3491"/>
                </a:cubicBezTo>
                <a:cubicBezTo>
                  <a:pt x="23827" y="3328"/>
                  <a:pt x="23639" y="3114"/>
                  <a:pt x="23513" y="2847"/>
                </a:cubicBezTo>
                <a:lnTo>
                  <a:pt x="24212" y="2525"/>
                </a:lnTo>
                <a:cubicBezTo>
                  <a:pt x="24277" y="2684"/>
                  <a:pt x="24375" y="2805"/>
                  <a:pt x="24507" y="2886"/>
                </a:cubicBezTo>
                <a:cubicBezTo>
                  <a:pt x="24639" y="2967"/>
                  <a:pt x="24792" y="3008"/>
                  <a:pt x="24967" y="3008"/>
                </a:cubicBezTo>
                <a:cubicBezTo>
                  <a:pt x="25148" y="3008"/>
                  <a:pt x="25292" y="2977"/>
                  <a:pt x="25399" y="2914"/>
                </a:cubicBezTo>
                <a:cubicBezTo>
                  <a:pt x="25506" y="2851"/>
                  <a:pt x="25560" y="2767"/>
                  <a:pt x="25560" y="2663"/>
                </a:cubicBezTo>
                <a:cubicBezTo>
                  <a:pt x="25560" y="2589"/>
                  <a:pt x="25540" y="2528"/>
                  <a:pt x="25500" y="2479"/>
                </a:cubicBezTo>
                <a:cubicBezTo>
                  <a:pt x="25460" y="2430"/>
                  <a:pt x="25391" y="2384"/>
                  <a:pt x="25293" y="2341"/>
                </a:cubicBezTo>
                <a:cubicBezTo>
                  <a:pt x="25195" y="2298"/>
                  <a:pt x="25053" y="2251"/>
                  <a:pt x="24865" y="2198"/>
                </a:cubicBezTo>
                <a:cubicBezTo>
                  <a:pt x="24617" y="2131"/>
                  <a:pt x="24412" y="2063"/>
                  <a:pt x="24251" y="1996"/>
                </a:cubicBezTo>
                <a:cubicBezTo>
                  <a:pt x="24090" y="1929"/>
                  <a:pt x="23948" y="1822"/>
                  <a:pt x="23824" y="1676"/>
                </a:cubicBezTo>
                <a:cubicBezTo>
                  <a:pt x="23699" y="1531"/>
                  <a:pt x="23637" y="1338"/>
                  <a:pt x="23637" y="1099"/>
                </a:cubicBezTo>
                <a:cubicBezTo>
                  <a:pt x="23637" y="887"/>
                  <a:pt x="23698" y="698"/>
                  <a:pt x="23819" y="531"/>
                </a:cubicBezTo>
                <a:cubicBezTo>
                  <a:pt x="23940" y="364"/>
                  <a:pt x="24106" y="233"/>
                  <a:pt x="24316" y="140"/>
                </a:cubicBezTo>
                <a:cubicBezTo>
                  <a:pt x="24526" y="46"/>
                  <a:pt x="24758" y="0"/>
                  <a:pt x="25013" y="0"/>
                </a:cubicBezTo>
                <a:close/>
                <a:moveTo>
                  <a:pt x="5186" y="0"/>
                </a:moveTo>
                <a:cubicBezTo>
                  <a:pt x="5533" y="0"/>
                  <a:pt x="5833" y="74"/>
                  <a:pt x="6088" y="223"/>
                </a:cubicBezTo>
                <a:cubicBezTo>
                  <a:pt x="6342" y="371"/>
                  <a:pt x="6538" y="586"/>
                  <a:pt x="6676" y="867"/>
                </a:cubicBezTo>
                <a:cubicBezTo>
                  <a:pt x="6814" y="1147"/>
                  <a:pt x="6883" y="1482"/>
                  <a:pt x="6883" y="1872"/>
                </a:cubicBezTo>
                <a:cubicBezTo>
                  <a:pt x="6883" y="2258"/>
                  <a:pt x="6814" y="2592"/>
                  <a:pt x="6676" y="2872"/>
                </a:cubicBezTo>
                <a:cubicBezTo>
                  <a:pt x="6538" y="3153"/>
                  <a:pt x="6342" y="3368"/>
                  <a:pt x="6088" y="3516"/>
                </a:cubicBezTo>
                <a:cubicBezTo>
                  <a:pt x="5833" y="3665"/>
                  <a:pt x="5533" y="3739"/>
                  <a:pt x="5186" y="3739"/>
                </a:cubicBezTo>
                <a:cubicBezTo>
                  <a:pt x="4836" y="3739"/>
                  <a:pt x="4534" y="3665"/>
                  <a:pt x="4280" y="3516"/>
                </a:cubicBezTo>
                <a:cubicBezTo>
                  <a:pt x="4025" y="3368"/>
                  <a:pt x="3829" y="3153"/>
                  <a:pt x="3691" y="2872"/>
                </a:cubicBezTo>
                <a:cubicBezTo>
                  <a:pt x="3553" y="2592"/>
                  <a:pt x="3484" y="2258"/>
                  <a:pt x="3484" y="1872"/>
                </a:cubicBezTo>
                <a:cubicBezTo>
                  <a:pt x="3484" y="1482"/>
                  <a:pt x="3553" y="1147"/>
                  <a:pt x="3691" y="867"/>
                </a:cubicBezTo>
                <a:cubicBezTo>
                  <a:pt x="3829" y="586"/>
                  <a:pt x="4025" y="371"/>
                  <a:pt x="4280" y="223"/>
                </a:cubicBezTo>
                <a:cubicBezTo>
                  <a:pt x="4534" y="74"/>
                  <a:pt x="4836" y="0"/>
                  <a:pt x="5186" y="0"/>
                </a:cubicBezTo>
                <a:close/>
                <a:moveTo>
                  <a:pt x="1762" y="0"/>
                </a:moveTo>
                <a:cubicBezTo>
                  <a:pt x="2081" y="0"/>
                  <a:pt x="2354" y="79"/>
                  <a:pt x="2581" y="237"/>
                </a:cubicBezTo>
                <a:cubicBezTo>
                  <a:pt x="2808" y="394"/>
                  <a:pt x="2987" y="613"/>
                  <a:pt x="3119" y="892"/>
                </a:cubicBezTo>
                <a:lnTo>
                  <a:pt x="2406" y="1209"/>
                </a:lnTo>
                <a:cubicBezTo>
                  <a:pt x="2341" y="1059"/>
                  <a:pt x="2249" y="946"/>
                  <a:pt x="2128" y="869"/>
                </a:cubicBezTo>
                <a:cubicBezTo>
                  <a:pt x="2006" y="792"/>
                  <a:pt x="1869" y="754"/>
                  <a:pt x="1716" y="754"/>
                </a:cubicBezTo>
                <a:cubicBezTo>
                  <a:pt x="1541" y="754"/>
                  <a:pt x="1387" y="799"/>
                  <a:pt x="1254" y="890"/>
                </a:cubicBezTo>
                <a:cubicBezTo>
                  <a:pt x="1120" y="980"/>
                  <a:pt x="1016" y="1108"/>
                  <a:pt x="941" y="1274"/>
                </a:cubicBezTo>
                <a:cubicBezTo>
                  <a:pt x="866" y="1439"/>
                  <a:pt x="828" y="1633"/>
                  <a:pt x="828" y="1853"/>
                </a:cubicBezTo>
                <a:cubicBezTo>
                  <a:pt x="828" y="2080"/>
                  <a:pt x="866" y="2279"/>
                  <a:pt x="941" y="2449"/>
                </a:cubicBezTo>
                <a:cubicBezTo>
                  <a:pt x="1016" y="2619"/>
                  <a:pt x="1120" y="2751"/>
                  <a:pt x="1254" y="2845"/>
                </a:cubicBezTo>
                <a:cubicBezTo>
                  <a:pt x="1387" y="2938"/>
                  <a:pt x="1541" y="2985"/>
                  <a:pt x="1716" y="2985"/>
                </a:cubicBezTo>
                <a:cubicBezTo>
                  <a:pt x="1863" y="2985"/>
                  <a:pt x="1996" y="2946"/>
                  <a:pt x="2114" y="2868"/>
                </a:cubicBezTo>
                <a:cubicBezTo>
                  <a:pt x="2232" y="2790"/>
                  <a:pt x="2332" y="2677"/>
                  <a:pt x="2415" y="2530"/>
                </a:cubicBezTo>
                <a:lnTo>
                  <a:pt x="3128" y="2847"/>
                </a:lnTo>
                <a:cubicBezTo>
                  <a:pt x="2993" y="3132"/>
                  <a:pt x="2804" y="3352"/>
                  <a:pt x="2560" y="3507"/>
                </a:cubicBezTo>
                <a:cubicBezTo>
                  <a:pt x="2316" y="3662"/>
                  <a:pt x="2036" y="3739"/>
                  <a:pt x="1720" y="3739"/>
                </a:cubicBezTo>
                <a:cubicBezTo>
                  <a:pt x="1386" y="3739"/>
                  <a:pt x="1089" y="3661"/>
                  <a:pt x="828" y="3505"/>
                </a:cubicBezTo>
                <a:cubicBezTo>
                  <a:pt x="567" y="3348"/>
                  <a:pt x="364" y="3127"/>
                  <a:pt x="219" y="2840"/>
                </a:cubicBezTo>
                <a:cubicBezTo>
                  <a:pt x="73" y="2553"/>
                  <a:pt x="0" y="2224"/>
                  <a:pt x="0" y="1853"/>
                </a:cubicBezTo>
                <a:cubicBezTo>
                  <a:pt x="0" y="1485"/>
                  <a:pt x="74" y="1161"/>
                  <a:pt x="221" y="881"/>
                </a:cubicBezTo>
                <a:cubicBezTo>
                  <a:pt x="368" y="600"/>
                  <a:pt x="575" y="383"/>
                  <a:pt x="842" y="230"/>
                </a:cubicBezTo>
                <a:cubicBezTo>
                  <a:pt x="1109" y="76"/>
                  <a:pt x="1415" y="0"/>
                  <a:pt x="1762" y="0"/>
                </a:cubicBezTo>
                <a:close/>
              </a:path>
            </a:pathLst>
          </a:custGeom>
          <a:noFill/>
          <a:ln w="19050" cap="flat">
            <a:gradFill>
              <a:gsLst>
                <a:gs pos="0">
                  <a:srgbClr val="FFFFFF">
                    <a:alpha val="11765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 vert="horz" wrap="square" lIns="91435" tIns="45717" rIns="91435" bIns="45717" numCol="1" anchor="t" anchorCtr="0" compatLnSpc="1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79120" y="678421"/>
            <a:ext cx="10252175" cy="1194589"/>
          </a:xfrm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2210" y="88018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2140" y="1757045"/>
            <a:ext cx="10968990" cy="455803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635" y="0"/>
            <a:ext cx="12191365" cy="6369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8" Type="http://schemas.openxmlformats.org/officeDocument/2006/relationships/tags" Target="../tags/tag74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ags" Target="../tags/tag73.xml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7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71.xml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75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chat.deepseek.com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hyperlink" Target="https://aistudio.google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emf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318" y="179"/>
            <a:ext cx="12191365" cy="637507"/>
          </a:xfrm>
          <a:prstGeom prst="rect">
            <a:avLst/>
          </a:prstGeom>
          <a:solidFill>
            <a:srgbClr val="E9452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1970" algn="l" rtl="0" eaLnBrk="0">
              <a:lnSpc>
                <a:spcPct val="92000"/>
              </a:lnSpc>
            </a:pP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375973" y="1452348"/>
            <a:ext cx="9297821" cy="124072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139000"/>
              </a:lnSpc>
            </a:pPr>
            <a:r>
              <a:rPr sz="5200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202</a:t>
            </a:r>
            <a:r>
              <a:rPr lang="en-US" sz="5200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6</a:t>
            </a:r>
            <a:r>
              <a:rPr lang="zh-CN" altLang="en-US" sz="5200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美赛</a:t>
            </a:r>
            <a:r>
              <a:rPr lang="en-US" altLang="zh-CN" sz="5200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Gemini3</a:t>
            </a:r>
            <a:r>
              <a:rPr lang="zh-CN" altLang="en-US" sz="5200" kern="0" spc="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5739-4879-1CCC-EFA0-BC6E2E77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6DADEB-D663-D2E7-2821-892E8238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2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D42990-2CF5-62D0-B9C8-8D01921A97D8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EAEA91-67E6-CB7B-CDDF-CD7E1E811887}"/>
              </a:ext>
            </a:extLst>
          </p:cNvPr>
          <p:cNvSpPr txBox="1"/>
          <p:nvPr/>
        </p:nvSpPr>
        <p:spPr>
          <a:xfrm>
            <a:off x="3407682" y="633954"/>
            <a:ext cx="2898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DeepSeek - </a:t>
            </a:r>
            <a:r>
              <a:rPr lang="zh-CN" altLang="en-US" dirty="0">
                <a:hlinkClick r:id="rId3"/>
              </a:rPr>
              <a:t>探索未至之境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34F641-C165-AC33-0D3D-7711D89FD14F}"/>
              </a:ext>
            </a:extLst>
          </p:cNvPr>
          <p:cNvSpPr txBox="1"/>
          <p:nvPr/>
        </p:nvSpPr>
        <p:spPr>
          <a:xfrm>
            <a:off x="2305050" y="6499684"/>
            <a:ext cx="689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Nano </a:t>
            </a:r>
            <a:r>
              <a:rPr lang="zh-CN" altLang="en-US" dirty="0"/>
              <a:t>Banana</a:t>
            </a:r>
            <a:r>
              <a:rPr lang="en-US" altLang="zh-CN" dirty="0"/>
              <a:t>, Gemini</a:t>
            </a:r>
            <a:r>
              <a:rPr lang="zh-CN" altLang="en-US" dirty="0"/>
              <a:t>均部署在谷歌：</a:t>
            </a:r>
            <a:r>
              <a:rPr lang="en-US" altLang="zh-CN" dirty="0">
                <a:hlinkClick r:id="rId4"/>
              </a:rPr>
              <a:t>https://aistudio.google.com/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68CB70-A162-1D8B-FE2D-417460BE6A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89" y="876815"/>
            <a:ext cx="1854060" cy="23309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0BE6F0A-C8C5-A4E3-88E7-D26B0F9C01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704" y="1008023"/>
            <a:ext cx="2400335" cy="22156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C238D2D-4501-A6B9-D93D-FA83FB4FF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350" y="936084"/>
            <a:ext cx="2551701" cy="2359572"/>
          </a:xfrm>
          <a:prstGeom prst="rect">
            <a:avLst/>
          </a:prstGeom>
        </p:spPr>
      </p:pic>
      <p:sp>
        <p:nvSpPr>
          <p:cNvPr id="14" name="加号 13">
            <a:extLst>
              <a:ext uri="{FF2B5EF4-FFF2-40B4-BE49-F238E27FC236}">
                <a16:creationId xmlns:a16="http://schemas.microsoft.com/office/drawing/2014/main" id="{EF7FC10F-42C4-BAFD-0084-C61387431C19}"/>
              </a:ext>
            </a:extLst>
          </p:cNvPr>
          <p:cNvSpPr/>
          <p:nvPr/>
        </p:nvSpPr>
        <p:spPr>
          <a:xfrm>
            <a:off x="2050324" y="1776727"/>
            <a:ext cx="508000" cy="55916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号 14">
            <a:extLst>
              <a:ext uri="{FF2B5EF4-FFF2-40B4-BE49-F238E27FC236}">
                <a16:creationId xmlns:a16="http://schemas.microsoft.com/office/drawing/2014/main" id="{4177B42A-60F4-B57C-22ED-43F483BA07F3}"/>
              </a:ext>
            </a:extLst>
          </p:cNvPr>
          <p:cNvSpPr/>
          <p:nvPr/>
        </p:nvSpPr>
        <p:spPr>
          <a:xfrm>
            <a:off x="8291632" y="1912180"/>
            <a:ext cx="768350" cy="388204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加号 15">
            <a:extLst>
              <a:ext uri="{FF2B5EF4-FFF2-40B4-BE49-F238E27FC236}">
                <a16:creationId xmlns:a16="http://schemas.microsoft.com/office/drawing/2014/main" id="{1EE98C47-CFF4-EDFA-9534-CA3FD1D9E6C9}"/>
              </a:ext>
            </a:extLst>
          </p:cNvPr>
          <p:cNvSpPr/>
          <p:nvPr/>
        </p:nvSpPr>
        <p:spPr>
          <a:xfrm>
            <a:off x="5130764" y="1741221"/>
            <a:ext cx="508000" cy="55916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5DB70C-0D26-5E6A-BE50-171395FE7E7D}"/>
              </a:ext>
            </a:extLst>
          </p:cNvPr>
          <p:cNvSpPr txBox="1"/>
          <p:nvPr/>
        </p:nvSpPr>
        <p:spPr>
          <a:xfrm>
            <a:off x="5573832" y="1413784"/>
            <a:ext cx="2717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帮我生成一张照片，图一是帝皇侠，图二是小黄人，小黄人对着镜子站在高端简约浴室镜子前，背对着镜头，看着镜子里，镜子里映射出图一帝皇侠的形象。该人物保持原有的形象特征，充满威慑力，比例为</a:t>
            </a:r>
            <a:r>
              <a:rPr lang="en-US" altLang="zh-CN" sz="1200" dirty="0"/>
              <a:t>3:4</a:t>
            </a:r>
            <a:r>
              <a:rPr lang="zh-CN" altLang="en-US" sz="1200" dirty="0"/>
              <a:t>，加一个稍微亮的滤镜</a:t>
            </a:r>
            <a:endParaRPr lang="en-US" altLang="zh-CN" sz="1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CB10F12-4590-7A79-C582-393D76934D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25" y="3416478"/>
            <a:ext cx="1302052" cy="278165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0CBE8D3-DADA-BDDB-718D-89DAE2324A5A}"/>
              </a:ext>
            </a:extLst>
          </p:cNvPr>
          <p:cNvSpPr txBox="1"/>
          <p:nvPr/>
        </p:nvSpPr>
        <p:spPr>
          <a:xfrm>
            <a:off x="2975429" y="3406922"/>
            <a:ext cx="45478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create a 1/7 scale commercialized figurine of the Detective Conan in the picture, in a realistic style, in a real environment. The figurine is placed on a computer desk. The figurine has a round transparent acrylic base, with no text on the base. The content on the computer screen is the </a:t>
            </a:r>
            <a:r>
              <a:rPr lang="en-US" altLang="zh-CN" sz="1600" dirty="0" err="1"/>
              <a:t>Zbrush</a:t>
            </a:r>
            <a:r>
              <a:rPr lang="en-US" altLang="zh-CN" sz="1600" dirty="0"/>
              <a:t> modeling process of this figurine. Next to the computer screen is a BANDAI-style toy packaging box printed with the original artwork., The packaging features two-dimensional flat </a:t>
            </a:r>
            <a:r>
              <a:rPr lang="en-US" altLang="zh-CN" sz="1600" dirty="0" err="1"/>
              <a:t>illustrations.Maintain</a:t>
            </a:r>
            <a:r>
              <a:rPr lang="en-US" altLang="zh-CN" sz="1600" dirty="0"/>
              <a:t> consistency with the image.</a:t>
            </a:r>
          </a:p>
        </p:txBody>
      </p:sp>
      <p:sp>
        <p:nvSpPr>
          <p:cNvPr id="20" name="加号 19">
            <a:extLst>
              <a:ext uri="{FF2B5EF4-FFF2-40B4-BE49-F238E27FC236}">
                <a16:creationId xmlns:a16="http://schemas.microsoft.com/office/drawing/2014/main" id="{2241A2E4-295A-12D2-657C-F9162BD51541}"/>
              </a:ext>
            </a:extLst>
          </p:cNvPr>
          <p:cNvSpPr/>
          <p:nvPr/>
        </p:nvSpPr>
        <p:spPr>
          <a:xfrm>
            <a:off x="2539964" y="4611019"/>
            <a:ext cx="508000" cy="55916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号 20">
            <a:extLst>
              <a:ext uri="{FF2B5EF4-FFF2-40B4-BE49-F238E27FC236}">
                <a16:creationId xmlns:a16="http://schemas.microsoft.com/office/drawing/2014/main" id="{E6FD34C8-493B-0E24-80A8-38AE4DA5F2B1}"/>
              </a:ext>
            </a:extLst>
          </p:cNvPr>
          <p:cNvSpPr/>
          <p:nvPr/>
        </p:nvSpPr>
        <p:spPr>
          <a:xfrm>
            <a:off x="7523282" y="4555375"/>
            <a:ext cx="768350" cy="388204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4F87097-6A55-16B3-756E-9202C96DA0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410" y="3451377"/>
            <a:ext cx="1424199" cy="280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7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2507-F0E5-66E3-CC94-B6C571D5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0BD536-6A96-79C6-15F0-8C42D9B3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6" y="626937"/>
            <a:ext cx="4409579" cy="2420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E8BAF9-7A36-E031-CB19-F45CA97F1249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E05488-403B-E8E8-85C4-CE57777C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155" y="692836"/>
            <a:ext cx="6472217" cy="6672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33BA877-B532-8B0B-E4D6-901C655907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55"/>
          <a:stretch>
            <a:fillRect/>
          </a:stretch>
        </p:blipFill>
        <p:spPr>
          <a:xfrm>
            <a:off x="-1" y="3047337"/>
            <a:ext cx="5887990" cy="37755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DF8FB9-5974-3963-7A7E-76B683E73D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109" y="2767464"/>
            <a:ext cx="6505891" cy="2414136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75FABE3C-1975-C525-1060-96943CBA8240}"/>
              </a:ext>
            </a:extLst>
          </p:cNvPr>
          <p:cNvSpPr/>
          <p:nvPr/>
        </p:nvSpPr>
        <p:spPr>
          <a:xfrm>
            <a:off x="5686109" y="3681806"/>
            <a:ext cx="6407920" cy="5854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71727C-C0A7-31B2-B0EB-08C2756976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7137" r="4764"/>
          <a:stretch>
            <a:fillRect/>
          </a:stretch>
        </p:blipFill>
        <p:spPr bwMode="auto">
          <a:xfrm>
            <a:off x="7198179" y="5434263"/>
            <a:ext cx="2781300" cy="11106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B996B82-E7BF-B28C-B983-B7F1E6A1B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9576" y="1360075"/>
            <a:ext cx="4200000" cy="1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5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5387-1629-FF9F-8B39-4CD67C9F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7D74102-9E84-F191-2633-10048F5C83E6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1F4528-EC98-AAA6-4B4B-76D58ADBF3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/>
          <a:stretch>
            <a:fillRect/>
          </a:stretch>
        </p:blipFill>
        <p:spPr bwMode="auto">
          <a:xfrm>
            <a:off x="3626743" y="703149"/>
            <a:ext cx="3543314" cy="16744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D020569-D6A8-FF63-AA78-D76C5B4A6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7367"/>
            <a:ext cx="3742857" cy="2857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089220-87FF-CC67-8A4E-DD9C559B0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628" y="703149"/>
            <a:ext cx="1471083" cy="3309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87D39F9-3C57-C7F4-4878-1509E2447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199" y="2417845"/>
            <a:ext cx="3474402" cy="182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1A5152-AE8E-1F93-2539-10CAAC7CDA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058" y="868646"/>
            <a:ext cx="5205710" cy="20083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FA8C2C-9656-B3FF-3152-70B636D8D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846" y="3263628"/>
            <a:ext cx="4196024" cy="30978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A3411E-202A-0372-A7FB-12B515CA6B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9942" y="4245074"/>
            <a:ext cx="5448229" cy="26129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CAD8AE4-5985-F326-0989-C25EDA55D3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2950" y="1603798"/>
            <a:ext cx="6438081" cy="50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807A-708F-6BDD-5097-36D13645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37BFF6-94E2-CFA0-45F4-D4D30979B14B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6BC6C6-6488-4C21-B11E-FCEA9F2BC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047"/>
            <a:ext cx="5699485" cy="32346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65851E5-EB65-F5DA-DF9C-70ABC8A99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027" y="3664857"/>
            <a:ext cx="6397429" cy="32275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E2CE53-F77B-056E-05EA-B8357C991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829" y="1059144"/>
            <a:ext cx="4274456" cy="25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0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75AF-2A2C-661A-6EA6-DA394A50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C014F8-CCFD-6A7D-95A3-AA4F078BC625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075612-7999-BDB6-0097-F2087A610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43" y="714414"/>
            <a:ext cx="9936757" cy="7706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12E1CF-166E-741D-E0E0-A630562C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29" y="1579556"/>
            <a:ext cx="5555134" cy="20578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E8B2B0-DD18-3AAA-9290-6D743D250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747" y="1901850"/>
            <a:ext cx="6349253" cy="15824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BD74C21-09AC-2228-D1D3-7FCA2052F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4683" y="3637429"/>
            <a:ext cx="6780717" cy="152669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BFD2F0-2127-AEE1-91A3-0F107D04F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1659" y="4423841"/>
            <a:ext cx="6831106" cy="2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9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0C3F-B1BC-0B23-821D-E5A43B50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39A3C63-8E13-3CFE-C255-B7B0A7F89E63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320749-0640-F808-B484-164EAB1D3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28" y="715928"/>
            <a:ext cx="8028571" cy="6476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507B44-6255-F05E-360C-BECAEE85D5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61"/>
          <a:stretch>
            <a:fillRect/>
          </a:stretch>
        </p:blipFill>
        <p:spPr>
          <a:xfrm>
            <a:off x="325396" y="1458030"/>
            <a:ext cx="3241129" cy="21327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B49992-E878-B9D4-0DA4-88EDA3840B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53"/>
          <a:stretch>
            <a:fillRect/>
          </a:stretch>
        </p:blipFill>
        <p:spPr>
          <a:xfrm>
            <a:off x="4389170" y="1459551"/>
            <a:ext cx="3036285" cy="213121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5120F9-9D2C-B985-EB31-35C2FFFA6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410" y="1436390"/>
            <a:ext cx="3036285" cy="21543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99CC9F-67B7-B500-82E7-9BCAC6632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086" y="3686770"/>
            <a:ext cx="3924120" cy="31360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E04CB4-1AFC-E574-E4B1-70CC06C528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140" y="3835991"/>
            <a:ext cx="4426860" cy="288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5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0622-D157-6556-23AF-66F86A9F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75E1A4-01E6-597D-810E-2ADE397FBF07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DE8B6E4-9D5E-9DF4-002D-182562F01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CF8BCD-8FD6-A6A8-085A-42298BC6D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993"/>
            <a:ext cx="5942857" cy="614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52D9E91-665C-E7C5-FC4A-2EBD584C9F4E}"/>
                  </a:ext>
                </a:extLst>
              </p:cNvPr>
              <p:cNvSpPr txBox="1"/>
              <p:nvPr/>
            </p:nvSpPr>
            <p:spPr>
              <a:xfrm>
                <a:off x="5991384" y="1322063"/>
                <a:ext cx="6200616" cy="5129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350"/>
                  </a:spcAft>
                  <a:buNone/>
                </a:pP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这是一个</a:t>
                </a:r>
                <a:r>
                  <a:rPr lang="zh-CN" altLang="en-US" sz="1600" b="1" i="0" dirty="0">
                    <a:solidFill>
                      <a:srgbClr val="1A1C1E"/>
                    </a:solidFill>
                    <a:effectLst/>
                    <a:latin typeface="Inter"/>
                  </a:rPr>
                  <a:t>非常合理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且</a:t>
                </a:r>
                <a:r>
                  <a:rPr lang="zh-CN" altLang="en-US" sz="1600" b="1" i="0" dirty="0">
                    <a:solidFill>
                      <a:srgbClr val="1A1C1E"/>
                    </a:solidFill>
                    <a:effectLst/>
                    <a:latin typeface="Inter"/>
                  </a:rPr>
                  <a:t>优秀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的优化结果。你的仿真结果在光谱特性、能量收敛趋势以及最终结构参数上，都完美符合辐射冷却（</a:t>
                </a:r>
                <a:r>
                  <a:rPr lang="en-US" altLang="zh-CN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PDRC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）的物理机制。</a:t>
                </a:r>
              </a:p>
              <a:p>
                <a:pPr algn="l">
                  <a:spcAft>
                    <a:spcPts val="1350"/>
                  </a:spcAft>
                  <a:buNone/>
                </a:pPr>
                <a:r>
                  <a:rPr lang="zh-CN" altLang="en-US" sz="1600" b="1" i="0" dirty="0">
                    <a:solidFill>
                      <a:srgbClr val="1A1C1E"/>
                    </a:solidFill>
                    <a:effectLst/>
                    <a:latin typeface="Inter"/>
                  </a:rPr>
                  <a:t>结果解释：</a:t>
                </a:r>
                <a:endParaRPr lang="zh-CN" altLang="en-US" sz="1600" b="0" i="0" dirty="0">
                  <a:solidFill>
                    <a:srgbClr val="1A1C1E"/>
                  </a:solidFill>
                  <a:effectLst/>
                  <a:latin typeface="Inter"/>
                </a:endParaRPr>
              </a:p>
              <a:p>
                <a:pPr algn="l">
                  <a:spcAft>
                    <a:spcPts val="1350"/>
                  </a:spcAft>
                  <a:buNone/>
                </a:pP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图像结果清晰地展示了一个理想的“选择性发射体”特性，与 </a:t>
                </a:r>
                <a:r>
                  <a:rPr lang="en-US" altLang="zh-CN" sz="1600" b="0" i="1" dirty="0">
                    <a:solidFill>
                      <a:srgbClr val="1A1C1E"/>
                    </a:solidFill>
                    <a:effectLst/>
                    <a:latin typeface="Inter"/>
                  </a:rPr>
                  <a:t>Nature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 </a:t>
                </a:r>
                <a:r>
                  <a:rPr lang="en-US" altLang="zh-CN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(Raman et al., 2014) 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和 </a:t>
                </a:r>
                <a:r>
                  <a:rPr lang="en-US" altLang="zh-CN" sz="1600" b="0" i="1" dirty="0">
                    <a:solidFill>
                      <a:srgbClr val="1A1C1E"/>
                    </a:solidFill>
                    <a:effectLst/>
                    <a:latin typeface="Inter"/>
                  </a:rPr>
                  <a:t>Science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 </a:t>
                </a:r>
                <a:r>
                  <a:rPr lang="en-US" altLang="zh-CN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(Zhai et al., 2017) 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等顶刊文献中的理论预测高度一致。首先，</a:t>
                </a:r>
                <a:r>
                  <a:rPr lang="zh-CN" altLang="en-US" sz="1600" b="1" i="0" dirty="0">
                    <a:solidFill>
                      <a:srgbClr val="1A1C1E"/>
                    </a:solidFill>
                    <a:effectLst/>
                    <a:latin typeface="Inter"/>
                  </a:rPr>
                  <a:t>光谱性能图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（图</a:t>
                </a:r>
                <a:r>
                  <a:rPr lang="en-US" altLang="zh-CN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2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）显示，优化后的多层膜在太阳辐射波段（</a:t>
                </a:r>
                <a:r>
                  <a:rPr lang="en-US" altLang="zh-CN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0.3-2.5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600" dirty="0">
                    <a:effectLst/>
                  </a:rPr>
                  <a:t>）具有极低的吸收率（平均 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lang="zh-CN" altLang="en-US" sz="1600" dirty="0">
                    <a:effectLst/>
                  </a:rPr>
                  <a:t>），这意味着绝大部分太阳热量被底部的 </a:t>
                </a:r>
                <a:r>
                  <a:rPr lang="en-US" altLang="zh-CN" sz="1600" dirty="0">
                    <a:effectLst/>
                  </a:rPr>
                  <a:t>Ag </a:t>
                </a:r>
                <a:r>
                  <a:rPr lang="zh-CN" altLang="en-US" sz="1600" dirty="0">
                    <a:effectLst/>
                  </a:rPr>
                  <a:t>基底和中间的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𝑆𝑖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effectLst/>
                  </a:rPr>
                  <a:t>布拉格反射层（</a:t>
                </a:r>
                <a:r>
                  <a:rPr lang="en-US" altLang="zh-CN" sz="1600" dirty="0">
                    <a:effectLst/>
                  </a:rPr>
                  <a:t>DBR</a:t>
                </a:r>
                <a:r>
                  <a:rPr lang="zh-CN" altLang="en-US" sz="1600" dirty="0">
                    <a:effectLst/>
                  </a:rPr>
                  <a:t>）有效反射。而在大气窗口波段（</a:t>
                </a:r>
                <a:r>
                  <a:rPr lang="en-US" altLang="zh-CN" sz="1600" dirty="0">
                    <a:effectLst/>
                  </a:rPr>
                  <a:t>8-13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600" dirty="0">
                    <a:effectLst/>
                  </a:rPr>
                  <a:t>），发射率迅速攀升至 </a:t>
                </a:r>
                <a:r>
                  <a:rPr lang="en-US" altLang="zh-CN" sz="1600" dirty="0">
                    <a:effectLst/>
                  </a:rPr>
                  <a:t>0.9 </a:t>
                </a:r>
                <a:r>
                  <a:rPr lang="zh-CN" altLang="en-US" sz="1600" dirty="0">
                    <a:effectLst/>
                  </a:rPr>
                  <a:t>以上，这归功于 </a:t>
                </a:r>
                <a:r>
                  <a:rPr lang="en-US" altLang="zh-CN" sz="1600" dirty="0">
                    <a:effectLst/>
                  </a:rPr>
                  <a:t>51.9 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600" dirty="0">
                    <a:effectLst/>
                  </a:rPr>
                  <a:t>厚的 </a:t>
                </a:r>
                <a:r>
                  <a:rPr lang="en-US" altLang="zh-CN" sz="1600" dirty="0">
                    <a:effectLst/>
                  </a:rPr>
                  <a:t>PDMS </a:t>
                </a:r>
                <a:r>
                  <a:rPr lang="zh-CN" altLang="en-US" sz="1600" dirty="0">
                    <a:effectLst/>
                  </a:rPr>
                  <a:t>层提供的强声子极化子共振吸收。其次，</a:t>
                </a:r>
                <a:r>
                  <a:rPr lang="zh-CN" altLang="en-US" sz="1600" b="1" dirty="0">
                    <a:effectLst/>
                  </a:rPr>
                  <a:t>遗传算法收敛图</a:t>
                </a:r>
                <a:r>
                  <a:rPr lang="zh-CN" altLang="en-US" sz="1600" dirty="0">
                    <a:effectLst/>
                  </a:rPr>
                  <a:t>（图</a:t>
                </a:r>
                <a:r>
                  <a:rPr lang="en-US" altLang="zh-CN" sz="1600" dirty="0">
                    <a:effectLst/>
                  </a:rPr>
                  <a:t>3</a:t>
                </a:r>
                <a:r>
                  <a:rPr lang="zh-CN" altLang="en-US" sz="1600" dirty="0">
                    <a:effectLst/>
                  </a:rPr>
                  <a:t>）显示目标函数（净制冷功率的负值）从初始的 </a:t>
                </a:r>
                <a:r>
                  <a:rPr lang="en-US" altLang="zh-CN" sz="1600" dirty="0">
                    <a:effectLst/>
                  </a:rPr>
                  <a:t>-37 </a:t>
                </a:r>
                <a:r>
                  <a:rPr lang="zh-CN" altLang="en-US" sz="1600" dirty="0">
                    <a:effectLst/>
                  </a:rPr>
                  <a:t>迅速下降并定在 </a:t>
                </a:r>
                <a:r>
                  <a:rPr lang="en-US" altLang="zh-CN" sz="1600" dirty="0">
                    <a:effectLst/>
                  </a:rPr>
                  <a:t>-75.8 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effectLst/>
                  </a:rPr>
                  <a:t>。这意味着在 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298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1600" dirty="0">
                    <a:effectLst/>
                  </a:rPr>
                  <a:t>环境温度下，该装置能产生约 </a:t>
                </a:r>
                <a:r>
                  <a:rPr lang="en-US" altLang="zh-CN" sz="1600" b="1" dirty="0">
                    <a:effectLst/>
                  </a:rPr>
                  <a:t>75.8 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effectLst/>
                  </a:rPr>
                  <a:t>的净制冷功率，这一数值完全落在了高性能辐射冷却器理论值（</a:t>
                </a:r>
                <a:r>
                  <a:rPr lang="en-US" altLang="zh-CN" sz="1600" dirty="0">
                    <a:effectLst/>
                  </a:rPr>
                  <a:t>60-100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effectLst/>
                  </a:rPr>
                  <a:t>）的合理区间内。最后，</a:t>
                </a:r>
                <a:r>
                  <a:rPr lang="zh-CN" altLang="en-US" sz="1600" b="1" dirty="0">
                    <a:effectLst/>
                  </a:rPr>
                  <a:t>结构图</a:t>
                </a:r>
                <a:r>
                  <a:rPr lang="zh-CN" altLang="en-US" sz="1600" dirty="0">
                    <a:effectLst/>
                  </a:rPr>
                  <a:t>（图</a:t>
                </a:r>
                <a:r>
                  <a:rPr lang="en-US" altLang="zh-CN" sz="1600" dirty="0">
                    <a:effectLst/>
                  </a:rPr>
                  <a:t>1</a:t>
                </a:r>
                <a:r>
                  <a:rPr lang="zh-CN" altLang="en-US" sz="1600" dirty="0">
                    <a:effectLst/>
                  </a:rPr>
                  <a:t>）给出的各层纳米级厚度（如 </a:t>
                </a:r>
                <a:r>
                  <a:rPr lang="en-US" altLang="zh-CN" sz="1600" dirty="0">
                    <a:effectLst/>
                  </a:rPr>
                  <a:t>147nm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effectLst/>
                  </a:rPr>
                  <a:t> </a:t>
                </a:r>
                <a:r>
                  <a:rPr lang="en-US" altLang="zh-CN" sz="1600" dirty="0">
                    <a:effectLst/>
                  </a:rPr>
                  <a:t>/ 106nm 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𝑆𝑖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effectLst/>
                  </a:rPr>
                  <a:t>）正是典型的干涉增反膜设计，证明算法成功找到了利用薄膜干涉来拒绝太阳光的最佳几何参数。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52D9E91-665C-E7C5-FC4A-2EBD584C9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384" y="1322063"/>
                <a:ext cx="6200616" cy="5129609"/>
              </a:xfrm>
              <a:prstGeom prst="rect">
                <a:avLst/>
              </a:prstGeom>
              <a:blipFill>
                <a:blip r:embed="rId4"/>
                <a:stretch>
                  <a:fillRect l="-590" t="-357" r="-295" b="-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58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AC44-535E-7E0C-0B3D-15B1591C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59BA28-412D-2828-BE70-1F9527802882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B78B90-1F2C-3DFD-5E96-21EF917D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641" y="685073"/>
            <a:ext cx="7436712" cy="5448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9ED73F-8265-452D-E691-3FCCF50DA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641" y="3829848"/>
            <a:ext cx="6798786" cy="29930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E75802-143E-6F6F-3C0B-CCBBDE919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6" y="1229887"/>
            <a:ext cx="4851840" cy="25403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178E5C-343E-99EE-2A21-0592CD4E74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686" y="1289499"/>
            <a:ext cx="5294089" cy="24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0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0C4E-32D8-F28C-F041-EB282AE1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43E54D-7EC5-F1B2-6E43-1002EA0E55AA}"/>
              </a:ext>
            </a:extLst>
          </p:cNvPr>
          <p:cNvSpPr txBox="1"/>
          <p:nvPr/>
        </p:nvSpPr>
        <p:spPr>
          <a:xfrm>
            <a:off x="0" y="35150"/>
            <a:ext cx="962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热门</a:t>
            </a:r>
            <a:r>
              <a:rPr lang="en-US" altLang="zh-CN" dirty="0"/>
              <a:t>AI</a:t>
            </a:r>
            <a:r>
              <a:rPr lang="zh-CN" altLang="en-US" dirty="0"/>
              <a:t>技术的介绍（</a:t>
            </a:r>
            <a:r>
              <a:rPr lang="en-US" altLang="zh-CN" dirty="0" err="1"/>
              <a:t>Deepseek</a:t>
            </a:r>
            <a:r>
              <a:rPr lang="zh-CN" altLang="en-US" dirty="0"/>
              <a:t>，</a:t>
            </a:r>
            <a:r>
              <a:rPr lang="en-US" altLang="zh-CN" dirty="0"/>
              <a:t>Banana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A801D1-5DDC-ABA1-B875-261D47F95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085" y="710704"/>
            <a:ext cx="3571429" cy="5428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47E0D9-9370-9027-8732-AD3D618B6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634" y="1229233"/>
            <a:ext cx="4700724" cy="25836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356E4A-FA88-06F9-8348-9CE05F520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1" y="1159119"/>
            <a:ext cx="3861564" cy="29516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8FA3C6-43C2-EEFB-DAE2-89EE1BC55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8422" y="3115222"/>
            <a:ext cx="5067015" cy="306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4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文本框 277505"/>
          <p:cNvSpPr txBox="1"/>
          <p:nvPr/>
        </p:nvSpPr>
        <p:spPr>
          <a:xfrm>
            <a:off x="3262948" y="2262188"/>
            <a:ext cx="5637530" cy="15684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9600" b="1">
                <a:latin typeface="Times New Roman" panose="02020603050405020304" charset="0"/>
                <a:ea typeface="宋体" panose="02010600030101010101" pitchFamily="2" charset="-122"/>
              </a:rPr>
              <a:t>THE END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03d75dc-5e03-40c0-b420-64f49d9259ee"/>
  <p:tag name="COMMONDATA" val="eyJoZGlkIjoiNGNlN2VmN2QxNzI5MzliMmEwNzUyNjM5M2Y5YzI1M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2310</Words>
  <Application>Microsoft Office PowerPoint</Application>
  <PresentationFormat>宽屏</PresentationFormat>
  <Paragraphs>94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Inter</vt:lpstr>
      <vt:lpstr>黑体</vt:lpstr>
      <vt:lpstr>Arial</vt:lpstr>
      <vt:lpstr>Calibri</vt:lpstr>
      <vt:lpstr>Cambria Math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HNNHSyc645</dc:creator>
  <cp:lastModifiedBy>翔宇 韩</cp:lastModifiedBy>
  <cp:revision>372</cp:revision>
  <dcterms:created xsi:type="dcterms:W3CDTF">2019-06-19T02:08:00Z</dcterms:created>
  <dcterms:modified xsi:type="dcterms:W3CDTF">2025-12-04T14:46:47Z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F6DD9D3BF8174BB891F2277F8936BBC3_13</vt:lpwstr>
  </property>
</Properties>
</file>